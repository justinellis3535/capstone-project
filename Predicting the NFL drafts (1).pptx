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21" Type="http://schemas.openxmlformats.org/officeDocument/2006/relationships/slide" Target="slides/slide16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slide" Target="slides/slide14.xml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c5a09d40ca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c5a09d40ca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c5a09d40ca_0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3c5a09d40ca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3c5a09d40ca_0_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3c5a09d40ca_0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3961fbe1b0b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" name="Google Shape;76;g3961fbe1b0b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961fbe1b0b_0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3961fbe1b0b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3961fbe1b0b_0_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" name="Google Shape;88;g3961fbe1b0b_0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3961fbe1b0b_0_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" name="Google Shape;94;g3961fbe1b0b_0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3961fbe1b0b_0_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" name="Google Shape;100;g3961fbe1b0b_0_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3961fbe1b0b_0_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" name="Google Shape;106;g3961fbe1b0b_0_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3961fbe1b0b_0_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" name="Google Shape;112;g3961fbe1b0b_0_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3961fbe1b0b_0_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" name="Google Shape;118;g3961fbe1b0b_0_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3961fbe1b0b_0_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4" name="Google Shape;124;g3961fbe1b0b_0_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g3961fbe1b0b_0_6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0" name="Google Shape;130;g3961fbe1b0b_0_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g3961fbe1b0b_0_7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6" name="Google Shape;136;g3961fbe1b0b_0_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g3961fbe1b0b_0_7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4" name="Google Shape;144;g3961fbe1b0b_0_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hyperlink" Target="https://www.kaggle.com/datasets/redlineracer/nfl-combine-performance-data-2009-2019" TargetMode="External"/><Relationship Id="rId4" Type="http://schemas.openxmlformats.org/officeDocument/2006/relationships/hyperlink" Target="https://www.pro-football-reference.com/" TargetMode="Externa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  Predicting the NFL drafts</a:t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457200" lvl="0" marL="2743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By: Justin Ellis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39286"/>
              <a:buFont typeface="Arial"/>
              <a:buNone/>
            </a:pPr>
            <a:r>
              <a:rPr lang="en"/>
              <a:t>Predicting NFL Draft Outcomes Using Machine Learning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" name="Google Shape;61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32500" lnSpcReduction="20000"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4163">
                <a:solidFill>
                  <a:schemeClr val="dk1"/>
                </a:solidFill>
              </a:rPr>
              <a:t>This project analyzes NFL Combine data to determine whether machine learning can predict which college football players will be drafted into the NFL</a:t>
            </a:r>
            <a:endParaRPr b="1" sz="4163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26424"/>
              <a:buFont typeface="Arial"/>
              <a:buNone/>
            </a:pPr>
            <a:r>
              <a:rPr b="1" lang="en" sz="4163">
                <a:solidFill>
                  <a:schemeClr val="dk1"/>
                </a:solidFill>
              </a:rPr>
              <a:t>• The NFL Combine provides objective athletic measurements that teams use when evaluating players before the draft</a:t>
            </a:r>
            <a:endParaRPr b="1" sz="4163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26424"/>
              <a:buFont typeface="Arial"/>
              <a:buNone/>
            </a:pPr>
            <a:r>
              <a:rPr b="1" lang="en" sz="4163">
                <a:solidFill>
                  <a:schemeClr val="dk1"/>
                </a:solidFill>
              </a:rPr>
              <a:t>• By training machine learning models on these measurements, it is possible to identify patterns that may influence whether a player is selected in the draft</a:t>
            </a:r>
            <a:endParaRPr b="1" sz="4163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26424"/>
              <a:buFont typeface="Arial"/>
              <a:buNone/>
            </a:pPr>
            <a:r>
              <a:rPr b="1" lang="en" sz="4163">
                <a:solidFill>
                  <a:schemeClr val="dk1"/>
                </a:solidFill>
              </a:rPr>
              <a:t>• Multiple classification algorithms were implemented and evaluated using the same dataset</a:t>
            </a:r>
            <a:endParaRPr b="1" sz="4163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26424"/>
              <a:buFont typeface="Arial"/>
              <a:buNone/>
            </a:pPr>
            <a:r>
              <a:rPr b="1" lang="en" sz="4163">
                <a:solidFill>
                  <a:schemeClr val="dk1"/>
                </a:solidFill>
              </a:rPr>
              <a:t>• The models were trained to recognize relationships between physical performance metrics and draft outcomes</a:t>
            </a:r>
            <a:endParaRPr b="1" sz="4163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26424"/>
              <a:buFont typeface="Arial"/>
              <a:buNone/>
            </a:pPr>
            <a:r>
              <a:rPr b="1" lang="en" sz="4163">
                <a:solidFill>
                  <a:schemeClr val="dk1"/>
                </a:solidFill>
              </a:rPr>
              <a:t>• The final goal of this project was to compare model accuracy and determine which machine learning algorithm produces the most reliable predictions</a:t>
            </a:r>
            <a:endParaRPr b="1" sz="4163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b="1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Problem Being Solved</a:t>
            </a:r>
            <a:endParaRPr/>
          </a:p>
        </p:txBody>
      </p:sp>
      <p:sp>
        <p:nvSpPr>
          <p:cNvPr id="67" name="Google Shape;67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70000" lnSpcReduction="20000"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"/>
              <a:t>•</a:t>
            </a:r>
            <a:r>
              <a:rPr lang="en">
                <a:solidFill>
                  <a:schemeClr val="dk1"/>
                </a:solidFill>
              </a:rPr>
              <a:t> Every year thousands of college football players attempt to enter the NFL through the draft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• NFL teams evaluate players based on many factors including athletic ability measured during the NFL Combine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• While teams rely on scouts coaches and analysts large datasets now allow data science techniques to analyze these decisions as well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• This project investigates whether machine learning models can learn patterns in combine data that indicate whether a player will be drafted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• The task is structured as a binary classification problem where the model must assign players to one of two possible outcomes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• Possible predictions include drafted or not drafted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• The models analyze measurable performance metrics and attempt to predict this outcome as accurately as possible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Dataset Overview</a:t>
            </a:r>
            <a:endParaRPr/>
          </a:p>
        </p:txBody>
      </p:sp>
      <p:sp>
        <p:nvSpPr>
          <p:cNvPr id="73" name="Google Shape;73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688"/>
              <a:buFont typeface="Arial"/>
              <a:buNone/>
            </a:pPr>
            <a:r>
              <a:rPr lang="en" sz="1300">
                <a:solidFill>
                  <a:schemeClr val="dk1"/>
                </a:solidFill>
              </a:rPr>
              <a:t>• The dataset used in this project contains NFL Combine performance data for players entering the NFL Draft</a:t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688"/>
              <a:buFont typeface="Arial"/>
              <a:buNone/>
            </a:pPr>
            <a:r>
              <a:rPr lang="en" sz="1300">
                <a:solidFill>
                  <a:schemeClr val="dk1"/>
                </a:solidFill>
              </a:rPr>
              <a:t>• Each row in the dataset represents a single player who participated in the combine</a:t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688"/>
              <a:buFont typeface="Arial"/>
              <a:buNone/>
            </a:pPr>
            <a:r>
              <a:rPr lang="en" sz="1300">
                <a:solidFill>
                  <a:schemeClr val="dk1"/>
                </a:solidFill>
              </a:rPr>
              <a:t>• The dataset includes multiple objective athletic measurements that scouts use to evaluate player performance</a:t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688"/>
              <a:buFont typeface="Arial"/>
              <a:buNone/>
            </a:pPr>
            <a:r>
              <a:rPr lang="en" sz="1300">
                <a:solidFill>
                  <a:schemeClr val="dk1"/>
                </a:solidFill>
              </a:rPr>
              <a:t>• These measurements represent key aspects of athletic ability that are important in professional football</a:t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688"/>
              <a:buFont typeface="Arial"/>
              <a:buNone/>
            </a:pPr>
            <a:r>
              <a:rPr lang="en" sz="1300">
                <a:solidFill>
                  <a:schemeClr val="dk1"/>
                </a:solidFill>
              </a:rPr>
              <a:t>• The dataset includes variables such as height weight 40 yard dash time bench press repetitions vertical jump height broad jump distance shuttle drill time and three cone drill time</a:t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688"/>
              <a:buFont typeface="Arial"/>
              <a:buNone/>
            </a:pPr>
            <a:r>
              <a:rPr lang="en" sz="1300">
                <a:solidFill>
                  <a:schemeClr val="dk1"/>
                </a:solidFill>
              </a:rPr>
              <a:t>• These features provide quantitative measurements of a player's strength speed agility and explosiveness</a:t>
            </a:r>
            <a:endParaRPr sz="1300">
              <a:solidFill>
                <a:schemeClr val="dk1"/>
              </a:solidFill>
            </a:endParaRPr>
          </a:p>
          <a:p>
            <a:pPr indent="-311150" lvl="0" marL="45720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1300"/>
              <a:buChar char="●"/>
            </a:pPr>
            <a:r>
              <a:rPr lang="en" sz="1300"/>
              <a:t>There are 3477 points of data which are distinct players</a:t>
            </a:r>
            <a:endParaRPr sz="1300"/>
          </a:p>
          <a:p>
            <a:pPr indent="-311150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 sz="1300" u="sng">
                <a:solidFill>
                  <a:schemeClr val="hlink"/>
                </a:solidFill>
                <a:hlinkClick r:id="rId3"/>
              </a:rPr>
              <a:t>https://www.kaggle.com/datasets/redlineracer/nfl-combine-performance-data-2009-2019</a:t>
            </a:r>
            <a:endParaRPr sz="1300"/>
          </a:p>
          <a:p>
            <a:pPr indent="-311150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 sz="1300">
                <a:solidFill>
                  <a:srgbClr val="3C4043"/>
                </a:solidFill>
                <a:highlight>
                  <a:srgbClr val="F8F9FA"/>
                </a:highlight>
              </a:rPr>
              <a:t>NFL Combine results from 2009 to 2019. This single file contains information on sports performance testing results, graduating school, draft outcome, and general demographics.</a:t>
            </a:r>
            <a:endParaRPr sz="1300">
              <a:solidFill>
                <a:srgbClr val="3C4043"/>
              </a:solidFill>
              <a:highlight>
                <a:srgbClr val="F8F9FA"/>
              </a:highlight>
            </a:endParaRPr>
          </a:p>
          <a:p>
            <a:pPr indent="-311150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3C4043"/>
              </a:buClr>
              <a:buSzPts val="1300"/>
              <a:buChar char="●"/>
            </a:pPr>
            <a:r>
              <a:rPr lang="en" sz="1300">
                <a:solidFill>
                  <a:srgbClr val="3C4043"/>
                </a:solidFill>
              </a:rPr>
              <a:t> </a:t>
            </a:r>
            <a:r>
              <a:rPr lang="en" sz="1300">
                <a:solidFill>
                  <a:srgbClr val="202124"/>
                </a:solidFill>
                <a:uFill>
                  <a:noFill/>
                </a:uFill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https://www.pro-football-reference.co</a:t>
            </a:r>
            <a:r>
              <a:rPr lang="en" sz="1300">
                <a:solidFill>
                  <a:srgbClr val="3C4043"/>
                </a:solidFill>
                <a:highlight>
                  <a:srgbClr val="F8F9FA"/>
                </a:highlight>
              </a:rPr>
              <a:t>m/ (The data comes from this link)</a:t>
            </a:r>
            <a:endParaRPr sz="1300">
              <a:solidFill>
                <a:srgbClr val="3C4043"/>
              </a:solidFill>
              <a:highlight>
                <a:srgbClr val="F8F9FA"/>
              </a:highlight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39286"/>
              <a:buFont typeface="Arial"/>
              <a:buNone/>
            </a:pPr>
            <a:r>
              <a:rPr lang="en"/>
              <a:t> Number of Players Analyzed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" name="Google Shape;79;p1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770"/>
              <a:buFont typeface="Arial"/>
              <a:buNone/>
            </a:pPr>
            <a:r>
              <a:rPr lang="en" sz="1360">
                <a:solidFill>
                  <a:schemeClr val="dk1"/>
                </a:solidFill>
              </a:rPr>
              <a:t>• The dataset contains all players included in the combine dataset after preprocessing and cleaning</a:t>
            </a:r>
            <a:endParaRPr sz="136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770"/>
              <a:buFont typeface="Arial"/>
              <a:buNone/>
            </a:pPr>
            <a:r>
              <a:rPr lang="en" sz="1360">
                <a:solidFill>
                  <a:schemeClr val="dk1"/>
                </a:solidFill>
              </a:rPr>
              <a:t>• Each player represents one observation that is used by the machine learning algorithms during training and testing</a:t>
            </a:r>
            <a:endParaRPr sz="136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770"/>
              <a:buFont typeface="Arial"/>
              <a:buNone/>
            </a:pPr>
            <a:r>
              <a:rPr lang="en" sz="1360">
                <a:solidFill>
                  <a:schemeClr val="dk1"/>
                </a:solidFill>
              </a:rPr>
              <a:t>• Before training the models the dataset was divided into two subsets to evaluate predictive performance</a:t>
            </a:r>
            <a:endParaRPr sz="136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770"/>
              <a:buFont typeface="Arial"/>
              <a:buNone/>
            </a:pPr>
            <a:r>
              <a:rPr lang="en" sz="1360">
                <a:solidFill>
                  <a:schemeClr val="dk1"/>
                </a:solidFill>
              </a:rPr>
              <a:t>• The data was split into training data and testing data</a:t>
            </a:r>
            <a:endParaRPr sz="136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770"/>
              <a:buFont typeface="Arial"/>
              <a:buNone/>
            </a:pPr>
            <a:r>
              <a:rPr lang="en" sz="1360">
                <a:solidFill>
                  <a:schemeClr val="dk1"/>
                </a:solidFill>
              </a:rPr>
              <a:t>• Training data makes up eighty percent of the dataset and is used by the algorithms to learn patterns</a:t>
            </a:r>
            <a:endParaRPr sz="136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770"/>
              <a:buFont typeface="Arial"/>
              <a:buNone/>
            </a:pPr>
            <a:r>
              <a:rPr lang="en" sz="1360">
                <a:solidFill>
                  <a:schemeClr val="dk1"/>
                </a:solidFill>
              </a:rPr>
              <a:t>• Testing data makes up twenty percent of the dataset and is used to evaluate how well the trained model performs on unseen data</a:t>
            </a:r>
            <a:endParaRPr sz="136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770"/>
              <a:buFont typeface="Arial"/>
              <a:buNone/>
            </a:pPr>
            <a:r>
              <a:rPr lang="en" sz="1360">
                <a:solidFill>
                  <a:schemeClr val="dk1"/>
                </a:solidFill>
              </a:rPr>
              <a:t>• This process ensures that the models are evaluated fairly and prevents them from simply memorizing the training dataset</a:t>
            </a:r>
            <a:endParaRPr sz="136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5000"/>
              </a:lnSpc>
              <a:spcBef>
                <a:spcPts val="1200"/>
              </a:spcBef>
              <a:spcAft>
                <a:spcPts val="1200"/>
              </a:spcAft>
              <a:buSzPts val="770"/>
              <a:buNone/>
            </a:pPr>
            <a:r>
              <a:t/>
            </a:r>
            <a:endParaRPr sz="136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Features Used by the Models</a:t>
            </a:r>
            <a:endParaRPr/>
          </a:p>
        </p:txBody>
      </p:sp>
      <p:sp>
        <p:nvSpPr>
          <p:cNvPr id="85" name="Google Shape;85;p1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853"/>
              <a:buFont typeface="Arial"/>
              <a:buNone/>
            </a:pPr>
            <a:r>
              <a:rPr lang="en" sz="1495">
                <a:solidFill>
                  <a:schemeClr val="dk1"/>
                </a:solidFill>
              </a:rPr>
              <a:t>• Features are the input variables used by machine learning algorithms to make predictions</a:t>
            </a:r>
            <a:endParaRPr sz="1495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853"/>
              <a:buFont typeface="Arial"/>
              <a:buNone/>
            </a:pPr>
            <a:r>
              <a:rPr lang="en" sz="1495">
                <a:solidFill>
                  <a:schemeClr val="dk1"/>
                </a:solidFill>
              </a:rPr>
              <a:t>• In this project only objective numerical measurements from the NFL Combine were used as features</a:t>
            </a:r>
            <a:endParaRPr sz="1495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853"/>
              <a:buFont typeface="Arial"/>
              <a:buNone/>
            </a:pPr>
            <a:r>
              <a:rPr lang="en" sz="1495">
                <a:solidFill>
                  <a:schemeClr val="dk1"/>
                </a:solidFill>
              </a:rPr>
              <a:t>• These metrics represent the player's measurable athletic performance during standardized drills</a:t>
            </a:r>
            <a:endParaRPr sz="1495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853"/>
              <a:buFont typeface="Arial"/>
              <a:buNone/>
            </a:pPr>
            <a:r>
              <a:rPr lang="en" sz="1495">
                <a:solidFill>
                  <a:schemeClr val="dk1"/>
                </a:solidFill>
              </a:rPr>
              <a:t>• The primary features used include height weight forty yard dash time bench press repetitions vertical jump broad jump shuttle time and three cone drill time</a:t>
            </a:r>
            <a:endParaRPr sz="1495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853"/>
              <a:buFont typeface="Arial"/>
              <a:buNone/>
            </a:pPr>
            <a:r>
              <a:rPr lang="en" sz="1495">
                <a:solidFill>
                  <a:schemeClr val="dk1"/>
                </a:solidFill>
              </a:rPr>
              <a:t>• These measurements capture important aspects of athletic performance including speed strength agility and explosiveness</a:t>
            </a:r>
            <a:endParaRPr sz="1495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853"/>
              <a:buFont typeface="Arial"/>
              <a:buNone/>
            </a:pPr>
            <a:r>
              <a:rPr lang="en" sz="1495">
                <a:solidFill>
                  <a:schemeClr val="dk1"/>
                </a:solidFill>
              </a:rPr>
              <a:t>• The models analyze patterns across these metrics to determine how they relate to draft outcomes</a:t>
            </a:r>
            <a:endParaRPr sz="1495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SzPts val="853"/>
              <a:buNone/>
            </a:pPr>
            <a:r>
              <a:t/>
            </a:r>
            <a:endParaRPr sz="1395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Target Variable</a:t>
            </a:r>
            <a:endParaRPr/>
          </a:p>
        </p:txBody>
      </p:sp>
      <p:sp>
        <p:nvSpPr>
          <p:cNvPr id="91" name="Google Shape;91;p1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853"/>
              <a:buFont typeface="Arial"/>
              <a:buNone/>
            </a:pPr>
            <a:r>
              <a:rPr lang="en" sz="1495">
                <a:solidFill>
                  <a:schemeClr val="dk1"/>
                </a:solidFill>
              </a:rPr>
              <a:t>• The target variable represents the value the machine learning models are attempting to predict</a:t>
            </a:r>
            <a:endParaRPr sz="1495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853"/>
              <a:buFont typeface="Arial"/>
              <a:buNone/>
            </a:pPr>
            <a:r>
              <a:rPr lang="en" sz="1495">
                <a:solidFill>
                  <a:schemeClr val="dk1"/>
                </a:solidFill>
              </a:rPr>
              <a:t>• In this project the target variable is drafted</a:t>
            </a:r>
            <a:endParaRPr sz="1495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853"/>
              <a:buFont typeface="Arial"/>
              <a:buNone/>
            </a:pPr>
            <a:r>
              <a:rPr lang="en" sz="1495">
                <a:solidFill>
                  <a:schemeClr val="dk1"/>
                </a:solidFill>
              </a:rPr>
              <a:t>• The original dataset labeled players using text values indicating whether they were drafted</a:t>
            </a:r>
            <a:endParaRPr sz="1495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853"/>
              <a:buFont typeface="Arial"/>
              <a:buNone/>
            </a:pPr>
            <a:r>
              <a:rPr lang="en" sz="1495">
                <a:solidFill>
                  <a:schemeClr val="dk1"/>
                </a:solidFill>
              </a:rPr>
              <a:t>• For machine learning purposes these values were converted into numerical labels</a:t>
            </a:r>
            <a:endParaRPr sz="1495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853"/>
              <a:buFont typeface="Arial"/>
              <a:buNone/>
            </a:pPr>
            <a:r>
              <a:rPr lang="en" sz="1495">
                <a:solidFill>
                  <a:schemeClr val="dk1"/>
                </a:solidFill>
              </a:rPr>
              <a:t>• One represents drafted and zero represents not drafted</a:t>
            </a:r>
            <a:endParaRPr sz="1495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853"/>
              <a:buFont typeface="Arial"/>
              <a:buNone/>
            </a:pPr>
            <a:r>
              <a:rPr lang="en" sz="1495">
                <a:solidFill>
                  <a:schemeClr val="dk1"/>
                </a:solidFill>
              </a:rPr>
              <a:t>• This transformation allows the models to perform mathematical calculations and optimize predictions during training</a:t>
            </a:r>
            <a:endParaRPr sz="1495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853"/>
              <a:buFont typeface="Arial"/>
              <a:buNone/>
            </a:pPr>
            <a:r>
              <a:rPr lang="en" sz="1495">
                <a:solidFill>
                  <a:schemeClr val="dk1"/>
                </a:solidFill>
              </a:rPr>
              <a:t>• The models attempt to learn the relationship between combine performance metrics and the probability that a player will be drafted</a:t>
            </a:r>
            <a:endParaRPr sz="1495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1200"/>
              </a:spcAft>
              <a:buSzPts val="853"/>
              <a:buNone/>
            </a:pPr>
            <a:r>
              <a:t/>
            </a:r>
            <a:endParaRPr sz="1495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39286"/>
              <a:buFont typeface="Arial"/>
              <a:buNone/>
            </a:pPr>
            <a:r>
              <a:rPr lang="en"/>
              <a:t>Feature Selection Process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2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77500" lnSpcReduction="20000"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57023"/>
              <a:buFont typeface="Arial"/>
              <a:buNone/>
            </a:pPr>
            <a:r>
              <a:rPr lang="en" sz="1929">
                <a:solidFill>
                  <a:srgbClr val="000000"/>
                </a:solidFill>
              </a:rPr>
              <a:t>• Before training the machine learning models several columns were removed from the dataset</a:t>
            </a:r>
            <a:endParaRPr sz="1929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57023"/>
              <a:buFont typeface="Arial"/>
              <a:buNone/>
            </a:pPr>
            <a:r>
              <a:rPr lang="en" sz="1929">
                <a:solidFill>
                  <a:srgbClr val="000000"/>
                </a:solidFill>
              </a:rPr>
              <a:t>• These columns were excluded because they contained text values or information that could bias the predictions</a:t>
            </a:r>
            <a:endParaRPr sz="1929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57023"/>
              <a:buFont typeface="Arial"/>
              <a:buNone/>
            </a:pPr>
            <a:r>
              <a:rPr lang="en" sz="1929">
                <a:solidFill>
                  <a:srgbClr val="000000"/>
                </a:solidFill>
              </a:rPr>
              <a:t>• The removed columns included player school drafted team and round information player type position type and position</a:t>
            </a:r>
            <a:endParaRPr sz="1929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57023"/>
              <a:buFont typeface="Arial"/>
              <a:buNone/>
            </a:pPr>
            <a:r>
              <a:rPr lang="en" sz="1929">
                <a:solidFill>
                  <a:srgbClr val="000000"/>
                </a:solidFill>
              </a:rPr>
              <a:t>• These columns were removed because they contain non numerical text values</a:t>
            </a:r>
            <a:endParaRPr sz="1929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57023"/>
              <a:buFont typeface="Arial"/>
              <a:buNone/>
            </a:pPr>
            <a:r>
              <a:rPr lang="en" sz="1929">
                <a:solidFill>
                  <a:srgbClr val="000000"/>
                </a:solidFill>
              </a:rPr>
              <a:t>• Some of them reveal information about the draft outcome itself</a:t>
            </a:r>
            <a:endParaRPr sz="1929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57023"/>
              <a:buFont typeface="Arial"/>
              <a:buNone/>
            </a:pPr>
            <a:r>
              <a:rPr lang="en" sz="1929">
                <a:solidFill>
                  <a:srgbClr val="000000"/>
                </a:solidFill>
              </a:rPr>
              <a:t>• They also do not directly represent measurable athletic performance</a:t>
            </a:r>
            <a:endParaRPr sz="1929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57023"/>
              <a:buFont typeface="Arial"/>
              <a:buNone/>
            </a:pPr>
            <a:r>
              <a:rPr lang="en" sz="1929">
                <a:solidFill>
                  <a:srgbClr val="000000"/>
                </a:solidFill>
              </a:rPr>
              <a:t>• After removing these variables only numerical performance metrics remained in the dataset</a:t>
            </a:r>
            <a:endParaRPr sz="1929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Handling Missing Values</a:t>
            </a:r>
            <a:endParaRPr/>
          </a:p>
        </p:txBody>
      </p:sp>
      <p:sp>
        <p:nvSpPr>
          <p:cNvPr id="103" name="Google Shape;103;p2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853"/>
              <a:buFont typeface="Arial"/>
              <a:buNone/>
            </a:pPr>
            <a:r>
              <a:rPr lang="en" sz="1495">
                <a:solidFill>
                  <a:schemeClr val="dk1"/>
                </a:solidFill>
              </a:rPr>
              <a:t>• Some players in the dataset were missing certain combine measurements</a:t>
            </a:r>
            <a:endParaRPr sz="1495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853"/>
              <a:buFont typeface="Arial"/>
              <a:buNone/>
            </a:pPr>
            <a:r>
              <a:rPr lang="en" sz="1495">
                <a:solidFill>
                  <a:schemeClr val="dk1"/>
                </a:solidFill>
              </a:rPr>
              <a:t>• Missing values appear in datasets as NaN which means not a number</a:t>
            </a:r>
            <a:endParaRPr sz="1495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853"/>
              <a:buFont typeface="Arial"/>
              <a:buNone/>
            </a:pPr>
            <a:r>
              <a:rPr lang="en" sz="1495">
                <a:solidFill>
                  <a:schemeClr val="dk1"/>
                </a:solidFill>
              </a:rPr>
              <a:t>• Many machine learning algorithms cannot train when missing values are present</a:t>
            </a:r>
            <a:endParaRPr sz="1495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853"/>
              <a:buFont typeface="Arial"/>
              <a:buNone/>
            </a:pPr>
            <a:r>
              <a:rPr lang="en" sz="1495">
                <a:solidFill>
                  <a:schemeClr val="dk1"/>
                </a:solidFill>
              </a:rPr>
              <a:t>• To resolve this issue the dataset was processed using mean imputation</a:t>
            </a:r>
            <a:endParaRPr sz="1495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853"/>
              <a:buFont typeface="Arial"/>
              <a:buNone/>
            </a:pPr>
            <a:r>
              <a:rPr lang="en" sz="1495">
                <a:solidFill>
                  <a:schemeClr val="dk1"/>
                </a:solidFill>
              </a:rPr>
              <a:t>• Mean imputation replaces missing values with the average value of that column</a:t>
            </a:r>
            <a:endParaRPr sz="1495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853"/>
              <a:buFont typeface="Arial"/>
              <a:buNone/>
            </a:pPr>
            <a:r>
              <a:rPr lang="en" sz="1495">
                <a:solidFill>
                  <a:schemeClr val="dk1"/>
                </a:solidFill>
              </a:rPr>
              <a:t>• For example if a player was missing a vertical jump value the average vertical jump across the dataset was used instead</a:t>
            </a:r>
            <a:endParaRPr sz="1495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853"/>
              <a:buFont typeface="Arial"/>
              <a:buNone/>
            </a:pPr>
            <a:r>
              <a:rPr lang="en" sz="1495">
                <a:solidFill>
                  <a:schemeClr val="dk1"/>
                </a:solidFill>
              </a:rPr>
              <a:t>• This method preserves the dataset size while maintaining the overall statistical structure of the data</a:t>
            </a:r>
            <a:endParaRPr sz="1495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5000"/>
              </a:lnSpc>
              <a:spcBef>
                <a:spcPts val="1200"/>
              </a:spcBef>
              <a:spcAft>
                <a:spcPts val="1200"/>
              </a:spcAft>
              <a:buSzPts val="853"/>
              <a:buNone/>
            </a:pPr>
            <a:r>
              <a:t/>
            </a:r>
            <a:endParaRPr sz="1495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2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Model One Logistic Regression</a:t>
            </a:r>
            <a:endParaRPr/>
          </a:p>
        </p:txBody>
      </p:sp>
      <p:sp>
        <p:nvSpPr>
          <p:cNvPr id="109" name="Google Shape;109;p22"/>
          <p:cNvSpPr txBox="1"/>
          <p:nvPr>
            <p:ph idx="1" type="body"/>
          </p:nvPr>
        </p:nvSpPr>
        <p:spPr>
          <a:xfrm>
            <a:off x="311700" y="1152475"/>
            <a:ext cx="8520600" cy="361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935"/>
              <a:buFont typeface="Arial"/>
              <a:buNone/>
            </a:pPr>
            <a:r>
              <a:rPr lang="en" sz="1630">
                <a:solidFill>
                  <a:schemeClr val="dk1"/>
                </a:solidFill>
              </a:rPr>
              <a:t>• The first model used in this project was logistic regression</a:t>
            </a:r>
            <a:endParaRPr sz="163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935"/>
              <a:buFont typeface="Arial"/>
              <a:buNone/>
            </a:pPr>
            <a:r>
              <a:rPr lang="en" sz="1630">
                <a:solidFill>
                  <a:schemeClr val="dk1"/>
                </a:solidFill>
              </a:rPr>
              <a:t>• Logistic regression is a statistical classification algorithm that estimates the probability that a data point belongs to a particular class</a:t>
            </a:r>
            <a:endParaRPr sz="163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935"/>
              <a:buFont typeface="Arial"/>
              <a:buNone/>
            </a:pPr>
            <a:r>
              <a:rPr lang="en" sz="1630">
                <a:solidFill>
                  <a:schemeClr val="dk1"/>
                </a:solidFill>
              </a:rPr>
              <a:t>• The model works by fitting a linear boundary that separates the two classes in the dataset</a:t>
            </a:r>
            <a:endParaRPr sz="163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935"/>
              <a:buFont typeface="Arial"/>
              <a:buNone/>
            </a:pPr>
            <a:r>
              <a:rPr lang="en" sz="1630">
                <a:solidFill>
                  <a:schemeClr val="dk1"/>
                </a:solidFill>
              </a:rPr>
              <a:t>• In this case the boundary separates players predicted to be drafted from those predicted not to be drafted</a:t>
            </a:r>
            <a:endParaRPr sz="163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935"/>
              <a:buFont typeface="Arial"/>
              <a:buNone/>
            </a:pPr>
            <a:r>
              <a:rPr lang="en" sz="1630">
                <a:solidFill>
                  <a:schemeClr val="dk1"/>
                </a:solidFill>
              </a:rPr>
              <a:t>• Logistic regression was used as a baseline model to evaluate the dataset and establish an initial level of performance</a:t>
            </a:r>
            <a:endParaRPr sz="163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935"/>
              <a:buFont typeface="Arial"/>
              <a:buNone/>
            </a:pPr>
            <a:r>
              <a:rPr lang="en" sz="1630">
                <a:solidFill>
                  <a:schemeClr val="dk1"/>
                </a:solidFill>
              </a:rPr>
              <a:t>• The model was trained using the training dataset and evaluated using the testing dataset</a:t>
            </a:r>
            <a:endParaRPr sz="163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935"/>
              <a:buFont typeface="Arial"/>
              <a:buNone/>
            </a:pPr>
            <a:r>
              <a:rPr lang="en" sz="1630">
                <a:solidFill>
                  <a:schemeClr val="dk1"/>
                </a:solidFill>
              </a:rPr>
              <a:t>The accuracy for this model was 72.98%</a:t>
            </a:r>
            <a:endParaRPr sz="163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1200"/>
              </a:spcAft>
              <a:buSzPts val="935"/>
              <a:buNone/>
            </a:pPr>
            <a:r>
              <a:t/>
            </a:r>
            <a:endParaRPr sz="153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39286"/>
              <a:buFont typeface="Arial"/>
              <a:buNone/>
            </a:pPr>
            <a:r>
              <a:rPr lang="en"/>
              <a:t>Model Two HistGradientBoosting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" name="Google Shape;115;p23"/>
          <p:cNvSpPr txBox="1"/>
          <p:nvPr>
            <p:ph idx="1" type="body"/>
          </p:nvPr>
        </p:nvSpPr>
        <p:spPr>
          <a:xfrm>
            <a:off x="311700" y="1152475"/>
            <a:ext cx="8520600" cy="376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935"/>
              <a:buFont typeface="Arial"/>
              <a:buNone/>
            </a:pPr>
            <a:r>
              <a:rPr lang="en" sz="1630">
                <a:solidFill>
                  <a:schemeClr val="dk1"/>
                </a:solidFill>
              </a:rPr>
              <a:t>• The second model implemented in this project was the hist gradient boosting classifier</a:t>
            </a:r>
            <a:endParaRPr sz="163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935"/>
              <a:buFont typeface="Arial"/>
              <a:buNone/>
            </a:pPr>
            <a:r>
              <a:rPr lang="en" sz="1630">
                <a:solidFill>
                  <a:schemeClr val="dk1"/>
                </a:solidFill>
              </a:rPr>
              <a:t>• This algorithm is a gradient boosting method that builds multiple decision trees sequentially</a:t>
            </a:r>
            <a:endParaRPr sz="163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935"/>
              <a:buFont typeface="Arial"/>
              <a:buNone/>
            </a:pPr>
            <a:r>
              <a:rPr lang="en" sz="1630">
                <a:solidFill>
                  <a:schemeClr val="dk1"/>
                </a:solidFill>
              </a:rPr>
              <a:t>• Each new tree attempts to correct the errors made by previous trees in the model</a:t>
            </a:r>
            <a:endParaRPr sz="163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935"/>
              <a:buFont typeface="Arial"/>
              <a:buNone/>
            </a:pPr>
            <a:r>
              <a:rPr lang="en" sz="1630">
                <a:solidFill>
                  <a:schemeClr val="dk1"/>
                </a:solidFill>
              </a:rPr>
              <a:t>• By combining many trees together the model can capture complex nonlinear relationships in the dataset</a:t>
            </a:r>
            <a:endParaRPr sz="163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935"/>
              <a:buFont typeface="Arial"/>
              <a:buNone/>
            </a:pPr>
            <a:r>
              <a:rPr lang="en" sz="1630">
                <a:solidFill>
                  <a:schemeClr val="dk1"/>
                </a:solidFill>
              </a:rPr>
              <a:t>• Hist gradient boosting is particularly effective for structured datasets like sports performance metrics</a:t>
            </a:r>
            <a:endParaRPr sz="163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935"/>
              <a:buFont typeface="Arial"/>
              <a:buNone/>
            </a:pPr>
            <a:r>
              <a:rPr lang="en" sz="1630">
                <a:solidFill>
                  <a:schemeClr val="dk1"/>
                </a:solidFill>
              </a:rPr>
              <a:t>• The model was trained using the training dataset and evaluated using the testing dataset</a:t>
            </a:r>
            <a:endParaRPr sz="163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935"/>
              <a:buFont typeface="Arial"/>
              <a:buNone/>
            </a:pPr>
            <a:r>
              <a:rPr lang="en" sz="1630">
                <a:solidFill>
                  <a:schemeClr val="dk1"/>
                </a:solidFill>
              </a:rPr>
              <a:t>The accuracy for this model was 80.4%</a:t>
            </a:r>
            <a:endParaRPr sz="163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935"/>
              <a:buFont typeface="Arial"/>
              <a:buNone/>
            </a:pPr>
            <a:r>
              <a:t/>
            </a:r>
            <a:endParaRPr sz="163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5000"/>
              </a:lnSpc>
              <a:spcBef>
                <a:spcPts val="1200"/>
              </a:spcBef>
              <a:spcAft>
                <a:spcPts val="1200"/>
              </a:spcAft>
              <a:buSzPts val="935"/>
              <a:buNone/>
            </a:pPr>
            <a:r>
              <a:t/>
            </a:r>
            <a:endParaRPr sz="153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Model Three XGBoost</a:t>
            </a:r>
            <a:endParaRPr/>
          </a:p>
        </p:txBody>
      </p:sp>
      <p:sp>
        <p:nvSpPr>
          <p:cNvPr id="121" name="Google Shape;121;p24"/>
          <p:cNvSpPr txBox="1"/>
          <p:nvPr>
            <p:ph idx="1" type="body"/>
          </p:nvPr>
        </p:nvSpPr>
        <p:spPr>
          <a:xfrm>
            <a:off x="311700" y="1152475"/>
            <a:ext cx="8520600" cy="399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935"/>
              <a:buFont typeface="Arial"/>
              <a:buNone/>
            </a:pPr>
            <a:r>
              <a:rPr lang="en" sz="1730">
                <a:solidFill>
                  <a:schemeClr val="dk1"/>
                </a:solidFill>
              </a:rPr>
              <a:t>• The third model used was XGBoost which stands for extreme gradient boosting</a:t>
            </a:r>
            <a:endParaRPr sz="173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935"/>
              <a:buFont typeface="Arial"/>
              <a:buNone/>
            </a:pPr>
            <a:r>
              <a:rPr lang="en" sz="1730">
                <a:solidFill>
                  <a:schemeClr val="dk1"/>
                </a:solidFill>
              </a:rPr>
              <a:t>• XGBoost is a highly optimized implementation of gradient boosting designed for strong performance on structured datasets</a:t>
            </a:r>
            <a:endParaRPr sz="173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935"/>
              <a:buFont typeface="Arial"/>
              <a:buNone/>
            </a:pPr>
            <a:r>
              <a:rPr lang="en" sz="1730">
                <a:solidFill>
                  <a:schemeClr val="dk1"/>
                </a:solidFill>
              </a:rPr>
              <a:t>• It builds an ensemble of decision trees that work together to improve prediction accuracy</a:t>
            </a:r>
            <a:endParaRPr sz="173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935"/>
              <a:buFont typeface="Arial"/>
              <a:buNone/>
            </a:pPr>
            <a:r>
              <a:rPr lang="en" sz="1730">
                <a:solidFill>
                  <a:schemeClr val="dk1"/>
                </a:solidFill>
              </a:rPr>
              <a:t>• The algorithm analyzes interactions between multiple features simultaneously</a:t>
            </a:r>
            <a:endParaRPr sz="173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935"/>
              <a:buFont typeface="Arial"/>
              <a:buNone/>
            </a:pPr>
            <a:r>
              <a:rPr lang="en" sz="1730">
                <a:solidFill>
                  <a:schemeClr val="dk1"/>
                </a:solidFill>
              </a:rPr>
              <a:t>• XGBoost also includes regularization techniques that help prevent overfitting and improve model stability</a:t>
            </a:r>
            <a:endParaRPr sz="173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935"/>
              <a:buFont typeface="Arial"/>
              <a:buNone/>
            </a:pPr>
            <a:r>
              <a:rPr lang="en" sz="1730">
                <a:solidFill>
                  <a:schemeClr val="dk1"/>
                </a:solidFill>
              </a:rPr>
              <a:t>• The model was trained on the training dataset and evaluated on the testing dataset</a:t>
            </a:r>
            <a:endParaRPr sz="173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935"/>
              <a:buFont typeface="Arial"/>
              <a:buNone/>
            </a:pPr>
            <a:r>
              <a:rPr lang="en" sz="1630">
                <a:solidFill>
                  <a:schemeClr val="dk1"/>
                </a:solidFill>
              </a:rPr>
              <a:t>The accuracy for this model was 81%</a:t>
            </a:r>
            <a:endParaRPr sz="163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935"/>
              <a:buFont typeface="Arial"/>
              <a:buNone/>
            </a:pPr>
            <a:r>
              <a:t/>
            </a:r>
            <a:endParaRPr sz="173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5000"/>
              </a:lnSpc>
              <a:spcBef>
                <a:spcPts val="1200"/>
              </a:spcBef>
              <a:spcAft>
                <a:spcPts val="1200"/>
              </a:spcAft>
              <a:buSzPts val="935"/>
              <a:buNone/>
            </a:pPr>
            <a:r>
              <a:t/>
            </a:r>
            <a:endParaRPr sz="153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2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Model Four Support Vector Machine</a:t>
            </a:r>
            <a:endParaRPr/>
          </a:p>
        </p:txBody>
      </p:sp>
      <p:sp>
        <p:nvSpPr>
          <p:cNvPr id="127" name="Google Shape;127;p25"/>
          <p:cNvSpPr txBox="1"/>
          <p:nvPr>
            <p:ph idx="1" type="body"/>
          </p:nvPr>
        </p:nvSpPr>
        <p:spPr>
          <a:xfrm>
            <a:off x="311700" y="1152475"/>
            <a:ext cx="8520600" cy="3522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853"/>
              <a:buFont typeface="Arial"/>
              <a:buNone/>
            </a:pPr>
            <a:r>
              <a:rPr lang="en" sz="1495">
                <a:solidFill>
                  <a:schemeClr val="dk1"/>
                </a:solidFill>
              </a:rPr>
              <a:t>• The final model tested in this project was the support vector machine classifier</a:t>
            </a:r>
            <a:endParaRPr sz="1495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853"/>
              <a:buFont typeface="Arial"/>
              <a:buNone/>
            </a:pPr>
            <a:r>
              <a:rPr lang="en" sz="1495">
                <a:solidFill>
                  <a:schemeClr val="dk1"/>
                </a:solidFill>
              </a:rPr>
              <a:t>• Support vector machines classify data by identifying the optimal boundary that separates the two classes</a:t>
            </a:r>
            <a:endParaRPr sz="1495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853"/>
              <a:buFont typeface="Arial"/>
              <a:buNone/>
            </a:pPr>
            <a:r>
              <a:rPr lang="en" sz="1495">
                <a:solidFill>
                  <a:schemeClr val="dk1"/>
                </a:solidFill>
              </a:rPr>
              <a:t>• The algorithm attempts to maximize the distance between this boundary and the closest data points from each class</a:t>
            </a:r>
            <a:endParaRPr sz="1495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853"/>
              <a:buFont typeface="Arial"/>
              <a:buNone/>
            </a:pPr>
            <a:r>
              <a:rPr lang="en" sz="1495">
                <a:solidFill>
                  <a:schemeClr val="dk1"/>
                </a:solidFill>
              </a:rPr>
              <a:t>• This allows the model to clearly separate drafted players from undrafted players</a:t>
            </a:r>
            <a:endParaRPr sz="1495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853"/>
              <a:buFont typeface="Arial"/>
              <a:buNone/>
            </a:pPr>
            <a:r>
              <a:rPr lang="en" sz="1495">
                <a:solidFill>
                  <a:schemeClr val="dk1"/>
                </a:solidFill>
              </a:rPr>
              <a:t>• Support vector machines are effective for complex classification problems where patterns are not perfectly linear</a:t>
            </a:r>
            <a:endParaRPr sz="1495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853"/>
              <a:buFont typeface="Arial"/>
              <a:buNone/>
            </a:pPr>
            <a:r>
              <a:rPr lang="en" sz="1495">
                <a:solidFill>
                  <a:schemeClr val="dk1"/>
                </a:solidFill>
              </a:rPr>
              <a:t>• </a:t>
            </a:r>
            <a:r>
              <a:rPr lang="en" sz="1630">
                <a:solidFill>
                  <a:schemeClr val="dk1"/>
                </a:solidFill>
              </a:rPr>
              <a:t>The accuracy for this model was 67.3%</a:t>
            </a:r>
            <a:endParaRPr sz="163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853"/>
              <a:buFont typeface="Arial"/>
              <a:buNone/>
            </a:pPr>
            <a:r>
              <a:t/>
            </a:r>
            <a:endParaRPr sz="1495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2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Model Performance Comparison</a:t>
            </a:r>
            <a:endParaRPr/>
          </a:p>
        </p:txBody>
      </p:sp>
      <p:sp>
        <p:nvSpPr>
          <p:cNvPr id="133" name="Google Shape;133;p2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018"/>
              <a:buFont typeface="Arial"/>
              <a:buNone/>
            </a:pPr>
            <a:r>
              <a:rPr lang="en" sz="1765">
                <a:solidFill>
                  <a:schemeClr val="dk1"/>
                </a:solidFill>
              </a:rPr>
              <a:t>• After training each model their prediction accuracy was evaluated using the testing dataset</a:t>
            </a:r>
            <a:endParaRPr sz="1765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018"/>
              <a:buFont typeface="Arial"/>
              <a:buNone/>
            </a:pPr>
            <a:r>
              <a:rPr lang="en" sz="1765">
                <a:solidFill>
                  <a:schemeClr val="dk1"/>
                </a:solidFill>
              </a:rPr>
              <a:t>• Accuracy measures the percentage of correct predictions made by the model</a:t>
            </a:r>
            <a:endParaRPr sz="1765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018"/>
              <a:buFont typeface="Arial"/>
              <a:buNone/>
            </a:pPr>
            <a:r>
              <a:rPr lang="en" sz="1765">
                <a:solidFill>
                  <a:schemeClr val="dk1"/>
                </a:solidFill>
              </a:rPr>
              <a:t>• Each algorithm was trained and tested using the same dataset to ensure a fair comparison</a:t>
            </a:r>
            <a:endParaRPr sz="1765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018"/>
              <a:buFont typeface="Arial"/>
              <a:buNone/>
            </a:pPr>
            <a:r>
              <a:rPr lang="en" sz="1765">
                <a:solidFill>
                  <a:schemeClr val="dk1"/>
                </a:solidFill>
              </a:rPr>
              <a:t>• The models produced different levels of predictive accuracy based on how well they captured relationships in the data</a:t>
            </a:r>
            <a:endParaRPr sz="1765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018"/>
              <a:buFont typeface="Arial"/>
              <a:buNone/>
            </a:pPr>
            <a:r>
              <a:rPr lang="en" sz="1765">
                <a:solidFill>
                  <a:schemeClr val="dk1"/>
                </a:solidFill>
              </a:rPr>
              <a:t>• By comparing the results it becomes possible to determine which model performs best for this problem</a:t>
            </a:r>
            <a:endParaRPr sz="1765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1200"/>
              </a:spcAft>
              <a:buSzPts val="1018"/>
              <a:buNone/>
            </a:pPr>
            <a:r>
              <a:t/>
            </a:r>
            <a:endParaRPr sz="1665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2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39286"/>
              <a:buFont typeface="Arial"/>
              <a:buNone/>
            </a:pPr>
            <a:r>
              <a:rPr lang="en"/>
              <a:t>Best Performing Model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" name="Google Shape;139;p27"/>
          <p:cNvSpPr txBox="1"/>
          <p:nvPr>
            <p:ph idx="1" type="body"/>
          </p:nvPr>
        </p:nvSpPr>
        <p:spPr>
          <a:xfrm>
            <a:off x="311700" y="1152475"/>
            <a:ext cx="5288700" cy="388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900">
                <a:solidFill>
                  <a:schemeClr val="dk1"/>
                </a:solidFill>
              </a:rPr>
              <a:t>• After evaluating all model results XGBoost had the highest accuracy</a:t>
            </a:r>
            <a:endParaRPr sz="19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900">
                <a:solidFill>
                  <a:schemeClr val="dk1"/>
                </a:solidFill>
              </a:rPr>
              <a:t>• This model demonstrated the strongest ability to identify patterns between combine performance metrics and draft outcomes</a:t>
            </a:r>
            <a:endParaRPr sz="19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900">
                <a:solidFill>
                  <a:schemeClr val="dk1"/>
                </a:solidFill>
              </a:rPr>
              <a:t>• It produced the highest percentage of correct predictions on unseen testing data</a:t>
            </a:r>
            <a:endParaRPr sz="19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900">
                <a:solidFill>
                  <a:schemeClr val="dk1"/>
                </a:solidFill>
              </a:rPr>
              <a:t>• Selecting the best model allows the dataset to be used in a way that maximizes predictive reliability</a:t>
            </a:r>
            <a:endParaRPr sz="19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140" name="Google Shape;140;p27"/>
          <p:cNvSpPr txBox="1"/>
          <p:nvPr/>
        </p:nvSpPr>
        <p:spPr>
          <a:xfrm>
            <a:off x="5530150" y="1195075"/>
            <a:ext cx="3613800" cy="38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pic>
        <p:nvPicPr>
          <p:cNvPr id="141" name="Google Shape;141;p27" title="Screenshot 2026-03-23 at 11.30.58 A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600400" y="1195075"/>
            <a:ext cx="3511000" cy="37961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2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Conclusion</a:t>
            </a:r>
            <a:endParaRPr/>
          </a:p>
        </p:txBody>
      </p:sp>
      <p:sp>
        <p:nvSpPr>
          <p:cNvPr id="147" name="Google Shape;147;p2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935"/>
              <a:buFont typeface="Arial"/>
              <a:buNone/>
            </a:pPr>
            <a:r>
              <a:rPr lang="en" sz="1630">
                <a:solidFill>
                  <a:schemeClr val="dk1"/>
                </a:solidFill>
              </a:rPr>
              <a:t>• This project demonstrates how machine learning can be applied to sports analytics</a:t>
            </a:r>
            <a:endParaRPr sz="163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935"/>
              <a:buFont typeface="Arial"/>
              <a:buNone/>
            </a:pPr>
            <a:r>
              <a:rPr lang="en" sz="1630">
                <a:solidFill>
                  <a:schemeClr val="dk1"/>
                </a:solidFill>
              </a:rPr>
              <a:t>• NFL Combine performance metrics contain measurable information that relates to whether a player will be drafted</a:t>
            </a:r>
            <a:endParaRPr sz="163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935"/>
              <a:buFont typeface="Arial"/>
              <a:buNone/>
            </a:pPr>
            <a:r>
              <a:rPr lang="en" sz="1630">
                <a:solidFill>
                  <a:schemeClr val="dk1"/>
                </a:solidFill>
              </a:rPr>
              <a:t>• Multiple classification algorithms were trained using these metrics to predict draft outcomes</a:t>
            </a:r>
            <a:endParaRPr sz="163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935"/>
              <a:buFont typeface="Arial"/>
              <a:buNone/>
            </a:pPr>
            <a:r>
              <a:rPr lang="en" sz="1630">
                <a:solidFill>
                  <a:schemeClr val="dk1"/>
                </a:solidFill>
              </a:rPr>
              <a:t>• Each model learned relationships between athletic measurements and the probability of being drafted</a:t>
            </a:r>
            <a:endParaRPr sz="163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935"/>
              <a:buFont typeface="Arial"/>
              <a:buNone/>
            </a:pPr>
            <a:r>
              <a:rPr lang="en" sz="1630">
                <a:solidFill>
                  <a:schemeClr val="dk1"/>
                </a:solidFill>
              </a:rPr>
              <a:t>• By comparing model accuracy the most effective algorithm for this dataset was identified</a:t>
            </a:r>
            <a:endParaRPr sz="163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935"/>
              <a:buFont typeface="Arial"/>
              <a:buNone/>
            </a:pPr>
            <a:r>
              <a:rPr lang="en" sz="1630">
                <a:solidFill>
                  <a:schemeClr val="dk1"/>
                </a:solidFill>
              </a:rPr>
              <a:t>• The results show how data science can be used to analyze athletic performance and generate predictive insights in professional sports</a:t>
            </a:r>
            <a:endParaRPr sz="163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1200"/>
              </a:spcAft>
              <a:buSzPts val="935"/>
              <a:buNone/>
            </a:pPr>
            <a:r>
              <a:t/>
            </a:r>
            <a:endParaRPr sz="153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